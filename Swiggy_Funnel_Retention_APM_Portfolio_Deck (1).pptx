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0584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PRODUCT ANALYTICS /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11887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3100" b="1">
                <a:solidFill>
                  <a:srgbClr val="0C2357"/>
                </a:solidFill>
                <a:latin typeface="Aptos"/>
              </a:defRPr>
            </a:pPr>
            <a:r>
              <a:t>Swiggy Food Delivery Funnel</a:t>
            </a:r>
            <a:br/>
            <a:r>
              <a:t>&amp; Retention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43200"/>
            <a:ext cx="1051560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600" b="0">
                <a:solidFill>
                  <a:srgbClr val="233048"/>
                </a:solidFill>
                <a:latin typeface="Aptos"/>
              </a:defRPr>
            </a:pPr>
            <a:r>
              <a:t>Finding conversion friction and shaping a measurable repeat-order hypothesis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49039"/>
            <a:ext cx="3429000" cy="11887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31546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01  FUNNEL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78807"/>
            <a:ext cx="3154680" cy="7040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Map the journey from app open to order placement.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49039"/>
            <a:ext cx="3429000" cy="11887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3858768"/>
            <a:ext cx="31546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7E57FF"/>
                </a:solidFill>
                <a:latin typeface="Aptos"/>
              </a:defRPr>
            </a:pPr>
            <a:r>
              <a:t>02 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178807"/>
            <a:ext cx="3154680" cy="7040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Separate order frequency from matured 7-day repeat behaviour.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749039"/>
            <a:ext cx="3429000" cy="11887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3858768"/>
            <a:ext cx="31546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19A691"/>
                </a:solidFill>
                <a:latin typeface="Aptos"/>
              </a:defRPr>
            </a:pPr>
            <a:r>
              <a:t>03  EXPERIMENT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78807"/>
            <a:ext cx="3154680" cy="7040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Propose Quick Reorder with a primary metric and guardrails.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715000"/>
            <a:ext cx="10058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5C6C87"/>
                </a:solidFill>
                <a:latin typeface="Aptos"/>
              </a:defRPr>
            </a:pPr>
            <a:r>
              <a:t>Dishant Kumar • Associate Product Manager portfolio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BASELINE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Funnel &amp; Retention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Synthetic dataset overview • visual summary of the analysis</a:t>
            </a:r>
          </a:p>
        </p:txBody>
      </p:sp>
      <p:pic>
        <p:nvPicPr>
          <p:cNvPr id="5" name="Picture 4" descr="image_1791650544078484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113385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DELIVERY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Do Late Deliveries Correlate with Repeat Ordering?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Association in this synthetic dataset; this comparison does not establish causation.</a:t>
            </a:r>
          </a:p>
        </p:txBody>
      </p:sp>
      <p:pic>
        <p:nvPicPr>
          <p:cNvPr id="5" name="Picture 4" descr="Delivery Performance and Repeat Ordering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113385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WHAT THE FUNNEL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The largest observed drop-off is before add-to-cart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The data identifies where to investigate, not the underlying reason for abandonment.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64208"/>
            <a:ext cx="2157984" cy="123444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73936"/>
            <a:ext cx="188366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APP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93976"/>
            <a:ext cx="1883664" cy="7498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12,000</a:t>
            </a:r>
            <a:br/>
            <a:r>
              <a:t>Starting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4" y="2103120"/>
            <a:ext cx="14630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5C6C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664208"/>
            <a:ext cx="2157984" cy="123444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799" y="1773936"/>
            <a:ext cx="188366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RESTAURANT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2093976"/>
            <a:ext cx="1883664" cy="7498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8,981</a:t>
            </a:r>
            <a:br/>
            <a:r>
              <a:t>74.84% from prior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3" y="2103120"/>
            <a:ext cx="14630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5C6C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1664208"/>
            <a:ext cx="2157984" cy="123444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773936"/>
            <a:ext cx="188366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EB4D7D"/>
                </a:solidFill>
                <a:latin typeface="Aptos"/>
              </a:defRPr>
            </a:pPr>
            <a:r>
              <a:t>ADD TO 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093976"/>
            <a:ext cx="1883664" cy="7498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4,900</a:t>
            </a:r>
            <a:br/>
            <a:r>
              <a:t>54.56% from prior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103120"/>
            <a:ext cx="14630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5C6C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664208"/>
            <a:ext cx="2157984" cy="123444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1773936"/>
            <a:ext cx="188366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093976"/>
            <a:ext cx="1883664" cy="7498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3,452</a:t>
            </a:r>
            <a:br/>
            <a:r>
              <a:t>70.45% from prior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103120"/>
            <a:ext cx="14630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5C6C8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664208"/>
            <a:ext cx="2157984" cy="123444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1773936"/>
            <a:ext cx="188366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19A691"/>
                </a:solidFill>
                <a:latin typeface="Aptos"/>
              </a:defRPr>
            </a:pPr>
            <a:r>
              <a:t>ORDER PLACED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093976"/>
            <a:ext cx="1883664" cy="7498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2,559</a:t>
            </a:r>
            <a:br/>
            <a:r>
              <a:t>74.13% from prior stage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24612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3337560"/>
            <a:ext cx="232257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APP-OPEN →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538727"/>
            <a:ext cx="2322576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000" b="1">
                <a:solidFill>
                  <a:srgbClr val="7E57FF"/>
                </a:solidFill>
                <a:latin typeface="Aptos"/>
              </a:defRPr>
            </a:pPr>
            <a:r>
              <a:t>21.33%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931920"/>
            <a:ext cx="232257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2,559 / 12,000 sessions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4992" y="324612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83864" y="3337560"/>
            <a:ext cx="232257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LARGEST STEP DROP-OFF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3864" y="3538727"/>
            <a:ext cx="2322576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000" b="1">
                <a:solidFill>
                  <a:srgbClr val="EB4D7D"/>
                </a:solidFill>
                <a:latin typeface="Aptos"/>
              </a:defRPr>
            </a:pPr>
            <a:r>
              <a:t>45.44%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3864" y="3931920"/>
            <a:ext cx="2322576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Restaurant view → add-to-cart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3246120"/>
            <a:ext cx="5303520" cy="160020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81928" y="3355848"/>
            <a:ext cx="50292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7E57FF"/>
                </a:solidFill>
                <a:latin typeface="Aptos"/>
              </a:defRPr>
            </a:pPr>
            <a:r>
              <a:t>HYPOTHESES TO 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3675887"/>
            <a:ext cx="5029200" cy="11155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• Dish discovery or menu fit</a:t>
            </a:r>
            <a:br/>
            <a:r>
              <a:t>• Price, fees, or delivery-time uncertainty</a:t>
            </a:r>
            <a:br/>
            <a:r>
              <a:t>• Customization friction</a:t>
            </a:r>
            <a:br/>
            <a:br/>
            <a:r>
              <a:t>Next: validate through event diagnostics and user research.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21208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Platform differences were modest in this synthetic dataset; this alone does not justify a platform-specific fix.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RETENTION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Use the right denominator for each retention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Repeat-customer share and 7-day repeat rate answer different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2414015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REPEAT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2414015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000" b="1">
                <a:solidFill>
                  <a:srgbClr val="7E57FF"/>
                </a:solidFill>
                <a:latin typeface="Aptos"/>
              </a:defRPr>
            </a:pPr>
            <a:r>
              <a:t>23.80%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414015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472 / 1,983 ordering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463040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554480"/>
            <a:ext cx="2414015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7-DAY REPEAT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55648"/>
            <a:ext cx="2414015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000" b="1">
                <a:solidFill>
                  <a:srgbClr val="19A691"/>
                </a:solidFill>
                <a:latin typeface="Aptos"/>
              </a:defRPr>
            </a:pPr>
            <a:r>
              <a:t>5.00%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414015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78 / 1,561 eligible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463040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554480"/>
            <a:ext cx="2414015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ONE-ORDER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55648"/>
            <a:ext cx="2414015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000" b="1">
                <a:solidFill>
                  <a:srgbClr val="EB4D7D"/>
                </a:solidFill>
                <a:latin typeface="Aptos"/>
              </a:defRPr>
            </a:pPr>
            <a:r>
              <a:t>76.20%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2414015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1,511 / 1,983 ordering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463040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0" y="1554480"/>
            <a:ext cx="2414015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800" b="1">
                <a:solidFill>
                  <a:srgbClr val="5C6C87"/>
                </a:solidFill>
                <a:latin typeface="Aptos"/>
              </a:defRPr>
            </a:pPr>
            <a:r>
              <a:t>DELIVERED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755648"/>
            <a:ext cx="2414015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000" b="1">
                <a:solidFill>
                  <a:srgbClr val="407EE6"/>
                </a:solidFill>
                <a:latin typeface="Aptos"/>
              </a:defRPr>
            </a:pPr>
            <a:r>
              <a:t>2,296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48840"/>
            <a:ext cx="2414015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0">
                <a:solidFill>
                  <a:srgbClr val="5C6C87"/>
                </a:solidFill>
                <a:latin typeface="Aptos"/>
              </a:defRPr>
            </a:pPr>
            <a:r>
              <a:t>2,559 placed; 263 cancelled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2834640"/>
            <a:ext cx="5349240" cy="182880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2944368"/>
            <a:ext cx="5074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WHAT WE CAN SAY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264408"/>
            <a:ext cx="5074920" cy="1344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• Most ordering customers placed only one order in the observed period.</a:t>
            </a:r>
            <a:br/>
            <a:r>
              <a:t>• A 7-day repeat metric needs a full follow-up window.</a:t>
            </a:r>
            <a:br/>
            <a:r>
              <a:t>• Delivery, price, food quality, and customer needs are possible factors—not proven causes.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834640"/>
            <a:ext cx="5349240" cy="182880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2944368"/>
            <a:ext cx="5074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EB4D7D"/>
                </a:solidFill>
                <a:latin typeface="Aptos"/>
              </a:defRPr>
            </a:pPr>
            <a:r>
              <a:t>WHAT WE SHOULD NOT CLAIM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3264408"/>
            <a:ext cx="5074920" cy="1344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• These are not Swiggy's internal metrics.</a:t>
            </a:r>
            <a:br/>
            <a:r>
              <a:t>• Repeat behaviour alone does not explain motivation.</a:t>
            </a:r>
            <a:br/>
            <a:r>
              <a:t>• A retrospective baseline is not an A/B-test control result.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PRODUCT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Quick Reorder: reduce effort without removing customer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Proposed experience for eligible customers after one delivered order; not yet tested.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56432" cy="14173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318211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7E57FF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182112" cy="9326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Home-screen card shows previous restaurant/order summary and current availability.</a:t>
            </a:r>
            <a:br/>
            <a:br/>
            <a:r>
              <a:t>CTA: Review and reorder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17320"/>
            <a:ext cx="3456432" cy="14173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527048"/>
            <a:ext cx="318211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19A691"/>
                </a:solidFill>
                <a:latin typeface="Aptos"/>
              </a:defRPr>
            </a:pPr>
            <a:r>
              <a:t>TRUST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847088"/>
            <a:ext cx="3182112" cy="9326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Refresh prices, taxes, fees, address, and item availability. Let users edit the cart and confirm checkout.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456432" cy="14173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27048"/>
            <a:ext cx="318211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EB4D7D"/>
                </a:solidFill>
                <a:latin typeface="Aptos"/>
              </a:defRPr>
            </a:pPr>
            <a:r>
              <a:t>EDGE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47088"/>
            <a:ext cx="3182112" cy="9326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Closed restaurant • unavailable item • price change • invalid customization • existing cart • serviceability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0400"/>
            <a:ext cx="5321808" cy="160020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310128"/>
            <a:ext cx="5047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EXPERIMENT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30168"/>
            <a:ext cx="5047488" cy="11155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Control: existing experience</a:t>
            </a:r>
            <a:br/>
            <a:r>
              <a:t>Treatment: Quick Reorder card + reviewable cart</a:t>
            </a:r>
            <a:br/>
            <a:r>
              <a:t>Randomization: customer-level, stable assignment</a:t>
            </a:r>
            <a:br/>
            <a:r>
              <a:t>Analysis: intention-to-treat; full 7-day follow-up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00400"/>
            <a:ext cx="5321808" cy="160020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310128"/>
            <a:ext cx="504748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7E57FF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630168"/>
            <a:ext cx="5047488" cy="11155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Primary: second delivered order within 7 days</a:t>
            </a:r>
            <a:br/>
            <a:r>
              <a:t>Guardrails: cancellation rate, delivered order value, discount cost, support contacts, validation errors</a:t>
            </a:r>
            <a:br/>
            <a:br/>
            <a:r>
              <a:t>Illustrative target only: 5% → 7%; not a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1208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Instrument assignment, impression, click, cart create/update, order placed, status update, and support contact.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155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1">
                <a:solidFill>
                  <a:srgbClr val="407EE6"/>
                </a:solidFill>
                <a:latin typeface="Aptos"/>
              </a:defRPr>
            </a:pPr>
            <a:r>
              <a:t>DECISION &amp;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13385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300" b="1">
                <a:solidFill>
                  <a:srgbClr val="0C2357"/>
                </a:solidFill>
                <a:latin typeface="Aptos"/>
              </a:defRPr>
            </a:pPr>
            <a:r>
              <a:t>From observed pattern to a testable product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14400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5C6C87"/>
                </a:solidFill>
                <a:latin typeface="Aptos"/>
              </a:defRPr>
            </a:pPr>
            <a:r>
              <a:t>The goal is to decide what to investigate and measure next, not to claim a cause prematurely.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16459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09928"/>
            <a:ext cx="31546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407EE6"/>
                </a:solidFill>
                <a:latin typeface="Aptos"/>
              </a:defRPr>
            </a:pPr>
            <a:r>
              <a:t>1  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7"/>
            <a:ext cx="3154680" cy="11612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A 45.44% step-level drop-off occurs from restaurant view to add-to-cart in the synthetic funnel.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16459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709928"/>
            <a:ext cx="31546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7E57FF"/>
                </a:solidFill>
                <a:latin typeface="Aptos"/>
              </a:defRPr>
            </a:pPr>
            <a:r>
              <a:t>2  INVESTIGATE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29967"/>
            <a:ext cx="3154680" cy="11612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Validate likely friction through event diagnostics and customer research before committing to a fix.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00200"/>
            <a:ext cx="3429000" cy="1645920"/>
          </a:xfrm>
          <a:prstGeom prst="roundRect">
            <a:avLst/>
          </a:prstGeom>
          <a:solidFill>
            <a:srgbClr val="F2F7FF"/>
          </a:solidFill>
          <a:ln>
            <a:solidFill>
              <a:srgbClr val="DCE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709928"/>
            <a:ext cx="31546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100" b="1">
                <a:solidFill>
                  <a:srgbClr val="19A691"/>
                </a:solidFill>
                <a:latin typeface="Aptos"/>
              </a:defRPr>
            </a:pPr>
            <a:r>
              <a:t>3 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29967"/>
            <a:ext cx="3154680" cy="11612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000" b="0">
                <a:solidFill>
                  <a:srgbClr val="233048"/>
                </a:solidFill>
                <a:latin typeface="Aptos"/>
              </a:defRPr>
            </a:pPr>
            <a:r>
              <a:t>Evaluate Quick Reorder with customer-level randomization, a defined 7-day metric, and guardrails.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105156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1">
                <a:solidFill>
                  <a:srgbClr val="0C2357"/>
                </a:solidFill>
                <a:latin typeface="Aptos"/>
              </a:defRPr>
            </a:pPr>
            <a:r>
              <a:t>PORTFOLIO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1042416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500" b="0">
                <a:solidFill>
                  <a:srgbClr val="233048"/>
                </a:solidFill>
                <a:latin typeface="Aptos"/>
              </a:defRPr>
            </a:pPr>
            <a:r>
              <a:t>I used SQL-based analysis to define the problem space, distinguish evidence from hypotheses, and translate a retention opportunity into product requirements and an experiment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4241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0">
                <a:solidFill>
                  <a:srgbClr val="407EE6"/>
                </a:solidFill>
                <a:latin typeface="Aptos"/>
              </a:defRPr>
            </a:pPr>
            <a:r>
              <a:t>Full case study: app.notion.com/p/Swiggy-Food-Delivery-Funnel-Retention-Analytics-Dishant-Kumar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6565392"/>
            <a:ext cx="1005840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C6C87"/>
                </a:solidFill>
                <a:latin typeface="Aptos"/>
              </a:defRPr>
            </a:pPr>
            <a:r>
              <a:t>INDEPENDENT PORTFOLIO PROJECT • SYNTHETIC DATA • NOT SWIGGY INTERNAL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3796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1">
                <a:solidFill>
                  <a:srgbClr val="5C6C87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781</Words>
  <Application>Microsoft Office PowerPoint</Application>
  <PresentationFormat>Widescreen</PresentationFormat>
  <Paragraphs>101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dishant kumar</cp:lastModifiedBy>
  <cp:revision>1</cp:revision>
  <dcterms:created xsi:type="dcterms:W3CDTF">2013-01-27T09:14:16Z</dcterms:created>
  <dcterms:modified xsi:type="dcterms:W3CDTF">2026-10-11T16:37:25Z</dcterms:modified>
  <cp:category/>
</cp:coreProperties>
</file>